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Daryl-69/SentiNet#1-run-it-from-the-downloaded-zip" TargetMode="External"/><Relationship Id="rId6" Type="http://schemas.openxmlformats.org/officeDocument/2006/relationships/hyperlink" Target="https://github.com/Daryl-69/SentiNet" TargetMode="External"/><Relationship Id="rId8" Type="http://schemas.openxmlformats.org/officeDocument/2006/relationships/hyperlink" Target="https://github.com/Daryl-69/SentiNet/blob/main/docs/ARCHITECTURE.md" TargetMode="External"/><Relationship Id="rId10" Type="http://schemas.openxmlformats.org/officeDocument/2006/relationships/hyperlink" Target="https://github.com/Daryl-69/SentiNet/tree/main/ppt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image" Target="../media/image-6-4.png"/><Relationship Id="rId7" Type="http://schemas.openxmlformats.org/officeDocument/2006/relationships/image" Target="../media/image-6-5.png"/><Relationship Id="rId9" Type="http://schemas.openxmlformats.org/officeDocument/2006/relationships/image" Target="../media/image-6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entinet/ppt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home/user/sentinet/ppt/img/i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720"/>
            <a:ext cx="2249424" cy="10607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286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E4A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3200400" y="1600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27889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SIH26153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32461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 –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based Network Attack Forecasting from Network Traffic Data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40233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– Blockchain and Cybersecurity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44805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 – Software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11480" y="49377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– 149775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411480" y="53949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(Registered on portal) –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Resurrección</a:t>
            </a:r>
            <a:endParaRPr lang="en-US" sz="2000" dirty="0"/>
          </a:p>
        </p:txBody>
      </p:sp>
      <p:pic>
        <p:nvPicPr>
          <p:cNvPr id="12" name="Image 2" descr="/home/user/sentinet/ppt/img/i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673352"/>
            <a:ext cx="3200400" cy="34198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entinet/ppt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home/user/sentinet/ppt/img/i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"/>
            <a:ext cx="1216152" cy="566928"/>
          </a:xfrm>
          <a:prstGeom prst="rect">
            <a:avLst/>
          </a:prstGeom>
        </p:spPr>
      </p:pic>
      <p:pic>
        <p:nvPicPr>
          <p:cNvPr id="4" name="Image 2" descr="/home/user/sentinet/ppt/img/i6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832" y="73152"/>
            <a:ext cx="548640" cy="576072"/>
          </a:xfrm>
          <a:prstGeom prst="rect">
            <a:avLst/>
          </a:prstGeom>
        </p:spPr>
      </p:pic>
      <p:pic>
        <p:nvPicPr>
          <p:cNvPr id="5" name="Image 3" descr="/home/user/sentinet/ppt/img/i6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137160"/>
            <a:ext cx="420624" cy="448056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2697480" y="1097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SentiNet : A World Model that Forecasts Network Attacks</a:t>
            </a:r>
            <a:endParaRPr lang="en-US" sz="2000" dirty="0"/>
          </a:p>
        </p:txBody>
      </p:sp>
      <p:sp>
        <p:nvSpPr>
          <p:cNvPr id="7" name="Shape 1"/>
          <p:cNvSpPr/>
          <p:nvPr/>
        </p:nvSpPr>
        <p:spPr>
          <a:xfrm>
            <a:off x="384048" y="731520"/>
            <a:ext cx="11430000" cy="365760"/>
          </a:xfrm>
          <a:prstGeom prst="rect">
            <a:avLst/>
          </a:prstGeom>
          <a:solidFill>
            <a:srgbClr val="EAF1F8"/>
          </a:solidFill>
          <a:ln w="12700">
            <a:solidFill>
              <a:srgbClr val="B4C7DC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457200" y="731520"/>
            <a:ext cx="11292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Enterprise &amp; Critical Information Infrastructure  |  Learns P(Sₜ₊₁ | Sₜ)  |  K-step attack forecasting  |  MITRE ATT&amp;CK stages  |  SHAP + attention explanations  |  Runs fully offline</a:t>
            </a:r>
            <a:endParaRPr lang="en-US" sz="1150" dirty="0"/>
          </a:p>
        </p:txBody>
      </p:sp>
      <p:sp>
        <p:nvSpPr>
          <p:cNvPr id="9" name="Shape 3"/>
          <p:cNvSpPr/>
          <p:nvPr/>
        </p:nvSpPr>
        <p:spPr>
          <a:xfrm>
            <a:off x="274320" y="1216152"/>
            <a:ext cx="5806440" cy="4818888"/>
          </a:xfrm>
          <a:prstGeom prst="rect">
            <a:avLst/>
          </a:prstGeom>
          <a:solidFill>
            <a:srgbClr val="DDE6F3"/>
          </a:solidFill>
          <a:ln w="15875">
            <a:solidFill>
              <a:srgbClr val="8EA2C0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274320" y="1261872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 / SOLUTION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475488" y="1645920"/>
            <a:ext cx="5422392" cy="749808"/>
          </a:xfrm>
          <a:prstGeom prst="roundRect">
            <a:avLst>
              <a:gd name="adj" fmla="val 7317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585216" y="1682496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detectors tell you a breach has happened. </a:t>
            </a:r>
            <a:r>
              <a:rPr lang="en-US" sz="1250" b="1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SentiNet tells you where the attacker is going next, </a:t>
            </a: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attacker is still scanning and there is still time to stop them.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475488" y="24871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566928" y="25786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65176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05840" y="25146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how the network changes over time</a:t>
            </a:r>
            <a:endParaRPr lang="en-US" sz="1150" dirty="0"/>
          </a:p>
        </p:txBody>
      </p:sp>
      <p:sp>
        <p:nvSpPr>
          <p:cNvPr id="17" name="Text 10"/>
          <p:cNvSpPr txBox="1"/>
          <p:nvPr/>
        </p:nvSpPr>
        <p:spPr>
          <a:xfrm>
            <a:off x="1005840" y="26883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model learns P(Sₜ₊₁ | Sₜ): how a graph of hosts, flow and packet features changes each minute. It does not just label single flows.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475488" y="30586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2F4A6E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566928" y="31501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2326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05840" y="30861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the future forward</a:t>
            </a:r>
            <a:endParaRPr lang="en-US" sz="1150" dirty="0"/>
          </a:p>
        </p:txBody>
      </p:sp>
      <p:sp>
        <p:nvSpPr>
          <p:cNvPr id="22" name="Text 14"/>
          <p:cNvSpPr txBox="1"/>
          <p:nvPr/>
        </p:nvSpPr>
        <p:spPr>
          <a:xfrm>
            <a:off x="1005840" y="32598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64 possible futures up to K windows ahead. The share that reach an infiltration state is the infiltration probability, shown with a confidence band.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475488" y="36301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566928" y="37216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794760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005840" y="36576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next attack stage and target</a:t>
            </a:r>
            <a:endParaRPr lang="en-US" sz="1150" dirty="0"/>
          </a:p>
        </p:txBody>
      </p:sp>
      <p:sp>
        <p:nvSpPr>
          <p:cNvPr id="27" name="Text 18"/>
          <p:cNvSpPr txBox="1"/>
          <p:nvPr/>
        </p:nvSpPr>
        <p:spPr>
          <a:xfrm>
            <a:off x="1005840" y="38313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forecast maps to MITRE ATT&amp;CK: Reconnaissance → Initial Access → Lateral Movement → C2 → Exfiltration, and names the host likely hit next.</a:t>
            </a:r>
            <a:endParaRPr lang="en-US" sz="950" dirty="0"/>
          </a:p>
        </p:txBody>
      </p:sp>
      <p:sp>
        <p:nvSpPr>
          <p:cNvPr id="28" name="Shape 19"/>
          <p:cNvSpPr/>
          <p:nvPr/>
        </p:nvSpPr>
        <p:spPr>
          <a:xfrm>
            <a:off x="475488" y="42016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566928" y="42931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366260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005840" y="42291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its reasoning</a:t>
            </a:r>
            <a:endParaRPr lang="en-US" sz="1150" dirty="0"/>
          </a:p>
        </p:txBody>
      </p:sp>
      <p:sp>
        <p:nvSpPr>
          <p:cNvPr id="32" name="Text 22"/>
          <p:cNvSpPr txBox="1"/>
          <p:nvPr/>
        </p:nvSpPr>
        <p:spPr>
          <a:xfrm>
            <a:off x="1005840" y="44028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and SHAP values list the flags, ports and flow statistics behind every forecast. No unexplained scores.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475488" y="47731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2F4A6E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566928" y="48646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937760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005840" y="48006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we block it?”</a:t>
            </a:r>
            <a:endParaRPr lang="en-US" sz="1150" dirty="0"/>
          </a:p>
        </p:txBody>
      </p:sp>
      <p:sp>
        <p:nvSpPr>
          <p:cNvPr id="37" name="Text 26"/>
          <p:cNvSpPr txBox="1"/>
          <p:nvPr/>
        </p:nvSpPr>
        <p:spPr>
          <a:xfrm>
            <a:off x="1005840" y="49743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defender applies an action (block port 445, isolate a host) inside the model and sees how the risk changes, before touching the real network.</a:t>
            </a:r>
            <a:endParaRPr lang="en-US" sz="950" dirty="0"/>
          </a:p>
        </p:txBody>
      </p:sp>
      <p:sp>
        <p:nvSpPr>
          <p:cNvPr id="38" name="Shape 27"/>
          <p:cNvSpPr/>
          <p:nvPr/>
        </p:nvSpPr>
        <p:spPr>
          <a:xfrm>
            <a:off x="475488" y="53446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566928" y="54361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5509260"/>
            <a:ext cx="201168" cy="201168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1005840" y="53721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prototype, not only a plan</a:t>
            </a:r>
            <a:endParaRPr lang="en-US" sz="1150" dirty="0"/>
          </a:p>
        </p:txBody>
      </p:sp>
      <p:sp>
        <p:nvSpPr>
          <p:cNvPr id="42" name="Text 30"/>
          <p:cNvSpPr txBox="1"/>
          <p:nvPr/>
        </p:nvSpPr>
        <p:spPr>
          <a:xfrm>
            <a:off x="1005840" y="55458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or CSV in; forecasts, Shapley explanations, flagged flows and signed receipts out. Offline app, ordinary CPU.</a:t>
            </a:r>
            <a:endParaRPr lang="en-US" sz="950" dirty="0"/>
          </a:p>
        </p:txBody>
      </p:sp>
      <p:sp>
        <p:nvSpPr>
          <p:cNvPr id="43" name="Shape 31"/>
          <p:cNvSpPr/>
          <p:nvPr/>
        </p:nvSpPr>
        <p:spPr>
          <a:xfrm>
            <a:off x="6236208" y="1216152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44" name="Text 32"/>
          <p:cNvSpPr txBox="1"/>
          <p:nvPr/>
        </p:nvSpPr>
        <p:spPr>
          <a:xfrm>
            <a:off x="6236208" y="125272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RESOLUTION</a:t>
            </a:r>
            <a:endParaRPr lang="en-US" sz="1800" dirty="0"/>
          </a:p>
        </p:txBody>
      </p:sp>
      <p:sp>
        <p:nvSpPr>
          <p:cNvPr id="45" name="Text 33"/>
          <p:cNvSpPr txBox="1"/>
          <p:nvPr/>
        </p:nvSpPr>
        <p:spPr>
          <a:xfrm>
            <a:off x="6400800" y="1627632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b="1" dirty="0">
                <a:solidFill>
                  <a:srgbClr val="B0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see flows, not campaigns: </a:t>
            </a:r>
            <a:r>
              <a:rPr lang="en-US" sz="11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benign/malicious label per flow throws away order and timing. A slow scan, then a brute-force, then lateral SMB traffic is one story, not three unrelated alerts.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b="1" dirty="0">
                <a:solidFill>
                  <a:srgbClr val="B0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come after the damage: </a:t>
            </a:r>
            <a:r>
              <a:rPr lang="en-US" sz="11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fires once a stage has already happened. Defenders need the warning while the attacker is still in reconnaissance.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b="1" dirty="0">
                <a:solidFill>
                  <a:srgbClr val="B0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nobody can act on: </a:t>
            </a:r>
            <a:r>
              <a:rPr lang="en-US" sz="11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with no “why” and no “what next” gets ignored by SOC analysts and cannot be audited in CII.</a:t>
            </a:r>
            <a:endParaRPr lang="en-US" sz="1150" dirty="0"/>
          </a:p>
        </p:txBody>
      </p:sp>
      <p:sp>
        <p:nvSpPr>
          <p:cNvPr id="46" name="Shape 34"/>
          <p:cNvSpPr/>
          <p:nvPr/>
        </p:nvSpPr>
        <p:spPr>
          <a:xfrm>
            <a:off x="6236208" y="3429000"/>
            <a:ext cx="55778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47" name="Text 35"/>
          <p:cNvSpPr txBox="1"/>
          <p:nvPr/>
        </p:nvSpPr>
        <p:spPr>
          <a:xfrm>
            <a:off x="6236208" y="346557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INNOVATION &amp; UNIQUENESS</a:t>
            </a:r>
            <a:endParaRPr lang="en-US" sz="1800" dirty="0"/>
          </a:p>
        </p:txBody>
      </p:sp>
      <p:sp>
        <p:nvSpPr>
          <p:cNvPr id="48" name="Shape 36"/>
          <p:cNvSpPr/>
          <p:nvPr/>
        </p:nvSpPr>
        <p:spPr>
          <a:xfrm>
            <a:off x="6373368" y="3858768"/>
            <a:ext cx="329184" cy="329184"/>
          </a:xfrm>
          <a:prstGeom prst="ellipse">
            <a:avLst/>
          </a:prstGeom>
          <a:solidFill>
            <a:srgbClr val="1E7B4F"/>
          </a:solidFill>
          <a:ln w="12700">
            <a:solidFill>
              <a:srgbClr val="1E7B4F"/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5664" y="3941064"/>
            <a:ext cx="164592" cy="164592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6775704" y="38496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“weather forecast”</a:t>
            </a:r>
            <a:endParaRPr lang="en-US" sz="1100" dirty="0"/>
          </a:p>
        </p:txBody>
      </p:sp>
      <p:sp>
        <p:nvSpPr>
          <p:cNvPr id="51" name="Text 38"/>
          <p:cNvSpPr txBox="1"/>
          <p:nvPr/>
        </p:nvSpPr>
        <p:spPr>
          <a:xfrm>
            <a:off x="6775704" y="40416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sampled futures give a risk band and time-to-compromise, not one label.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9098280" y="3858768"/>
            <a:ext cx="329184" cy="329184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0576" y="3941064"/>
            <a:ext cx="164592" cy="164592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9500616" y="38496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attacker’s playbook</a:t>
            </a:r>
            <a:endParaRPr lang="en-US" sz="1100" dirty="0"/>
          </a:p>
        </p:txBody>
      </p:sp>
      <p:sp>
        <p:nvSpPr>
          <p:cNvPr id="55" name="Text 41"/>
          <p:cNvSpPr txBox="1"/>
          <p:nvPr/>
        </p:nvSpPr>
        <p:spPr>
          <a:xfrm>
            <a:off x="9500616" y="40416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ATT&amp;CK/CAPEC knowledge base names the technique and its mitigation; CVE exposure raises host risk.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6373368" y="4572000"/>
            <a:ext cx="329184" cy="32918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5664" y="4654296"/>
            <a:ext cx="164592" cy="164592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6775704" y="45628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+ packet, on a graph</a:t>
            </a:r>
            <a:endParaRPr lang="en-US" sz="1100" dirty="0"/>
          </a:p>
        </p:txBody>
      </p:sp>
      <p:sp>
        <p:nvSpPr>
          <p:cNvPr id="59" name="Text 44"/>
          <p:cNvSpPr txBox="1"/>
          <p:nvPr/>
        </p:nvSpPr>
        <p:spPr>
          <a:xfrm>
            <a:off x="6775704" y="475488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TTL, window size and port order catch slow scans; the graph predicts which host is next.</a:t>
            </a:r>
            <a:endParaRPr lang="en-US" sz="900" dirty="0"/>
          </a:p>
        </p:txBody>
      </p:sp>
      <p:sp>
        <p:nvSpPr>
          <p:cNvPr id="60" name="Shape 45"/>
          <p:cNvSpPr/>
          <p:nvPr/>
        </p:nvSpPr>
        <p:spPr>
          <a:xfrm>
            <a:off x="9098280" y="4572000"/>
            <a:ext cx="329184" cy="32918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80576" y="4654296"/>
            <a:ext cx="164592" cy="164592"/>
          </a:xfrm>
          <a:prstGeom prst="rect">
            <a:avLst/>
          </a:prstGeom>
        </p:spPr>
      </p:pic>
      <p:sp>
        <p:nvSpPr>
          <p:cNvPr id="62" name="Text 46"/>
          <p:cNvSpPr txBox="1"/>
          <p:nvPr/>
        </p:nvSpPr>
        <p:spPr>
          <a:xfrm>
            <a:off x="9500616" y="45628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defence simulator</a:t>
            </a:r>
            <a:endParaRPr lang="en-US" sz="1100" dirty="0"/>
          </a:p>
        </p:txBody>
      </p:sp>
      <p:sp>
        <p:nvSpPr>
          <p:cNvPr id="63" name="Text 47"/>
          <p:cNvSpPr txBox="1"/>
          <p:nvPr/>
        </p:nvSpPr>
        <p:spPr>
          <a:xfrm>
            <a:off x="9500616" y="475488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block or isolate action inside the model before using it.</a:t>
            </a:r>
            <a:endParaRPr lang="en-US" sz="900" dirty="0"/>
          </a:p>
        </p:txBody>
      </p:sp>
      <p:sp>
        <p:nvSpPr>
          <p:cNvPr id="64" name="Shape 48"/>
          <p:cNvSpPr/>
          <p:nvPr/>
        </p:nvSpPr>
        <p:spPr>
          <a:xfrm>
            <a:off x="6373368" y="5285232"/>
            <a:ext cx="329184" cy="329184"/>
          </a:xfrm>
          <a:prstGeom prst="ellipse">
            <a:avLst/>
          </a:prstGeom>
          <a:solidFill>
            <a:srgbClr val="1F3B64"/>
          </a:solidFill>
          <a:ln w="12700">
            <a:solidFill>
              <a:srgbClr val="1F3B64"/>
            </a:solidFill>
            <a:prstDash val="solid"/>
          </a:ln>
        </p:spPr>
      </p:sp>
      <p:pic>
        <p:nvPicPr>
          <p:cNvPr id="6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5664" y="5367528"/>
            <a:ext cx="164592" cy="164592"/>
          </a:xfrm>
          <a:prstGeom prst="rect">
            <a:avLst/>
          </a:prstGeom>
        </p:spPr>
      </p:pic>
      <p:sp>
        <p:nvSpPr>
          <p:cNvPr id="66" name="Text 49"/>
          <p:cNvSpPr txBox="1"/>
          <p:nvPr/>
        </p:nvSpPr>
        <p:spPr>
          <a:xfrm>
            <a:off x="6775704" y="52760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forecasts</a:t>
            </a:r>
            <a:endParaRPr lang="en-US" sz="1100" dirty="0"/>
          </a:p>
        </p:txBody>
      </p:sp>
      <p:sp>
        <p:nvSpPr>
          <p:cNvPr id="67" name="Text 50"/>
          <p:cNvSpPr txBox="1"/>
          <p:nvPr/>
        </p:nvSpPr>
        <p:spPr>
          <a:xfrm>
            <a:off x="6775704" y="546811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forecast is signed into a Merkle ledger and later scored against what actually happened.</a:t>
            </a:r>
            <a:endParaRPr lang="en-US" sz="900" dirty="0"/>
          </a:p>
        </p:txBody>
      </p:sp>
      <p:sp>
        <p:nvSpPr>
          <p:cNvPr id="68" name="Shape 51"/>
          <p:cNvSpPr/>
          <p:nvPr/>
        </p:nvSpPr>
        <p:spPr>
          <a:xfrm>
            <a:off x="9098280" y="5285232"/>
            <a:ext cx="329184" cy="329184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6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0576" y="5367528"/>
            <a:ext cx="164592" cy="164592"/>
          </a:xfrm>
          <a:prstGeom prst="rect">
            <a:avLst/>
          </a:prstGeom>
        </p:spPr>
      </p:pic>
      <p:sp>
        <p:nvSpPr>
          <p:cNvPr id="70" name="Text 52"/>
          <p:cNvSpPr txBox="1"/>
          <p:nvPr/>
        </p:nvSpPr>
        <p:spPr>
          <a:xfrm>
            <a:off x="9500616" y="52760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enough for CII</a:t>
            </a:r>
            <a:endParaRPr lang="en-US" sz="1100" dirty="0"/>
          </a:p>
        </p:txBody>
      </p:sp>
      <p:sp>
        <p:nvSpPr>
          <p:cNvPr id="71" name="Text 53"/>
          <p:cNvSpPr txBox="1"/>
          <p:nvPr/>
        </p:nvSpPr>
        <p:spPr>
          <a:xfrm>
            <a:off x="9500616" y="546811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~170k parameters: 12 h of traffic forecast in seconds on a laptop CPU, fully offline.</a:t>
            </a:r>
            <a:endParaRPr lang="en-US" sz="900" dirty="0"/>
          </a:p>
        </p:txBody>
      </p:sp>
      <p:sp>
        <p:nvSpPr>
          <p:cNvPr id="72" name="Shape 54"/>
          <p:cNvSpPr/>
          <p:nvPr/>
        </p:nvSpPr>
        <p:spPr>
          <a:xfrm>
            <a:off x="9025128" y="3886200"/>
            <a:ext cx="0" cy="205740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3" name="Shape 55"/>
          <p:cNvSpPr/>
          <p:nvPr/>
        </p:nvSpPr>
        <p:spPr>
          <a:xfrm>
            <a:off x="384048" y="6254496"/>
            <a:ext cx="11430000" cy="0"/>
          </a:xfrm>
          <a:prstGeom prst="line">
            <a:avLst/>
          </a:prstGeom>
          <a:noFill/>
          <a:ln w="15875">
            <a:solidFill>
              <a:srgbClr val="A0A7B0"/>
            </a:solidFill>
            <a:prstDash val="solid"/>
          </a:ln>
        </p:spPr>
      </p:sp>
      <p:sp>
        <p:nvSpPr>
          <p:cNvPr id="74" name="Shape 56"/>
          <p:cNvSpPr/>
          <p:nvPr/>
        </p:nvSpPr>
        <p:spPr>
          <a:xfrm>
            <a:off x="1700784" y="6172200"/>
            <a:ext cx="164592" cy="164592"/>
          </a:xfrm>
          <a:prstGeom prst="ellipse">
            <a:avLst/>
          </a:prstGeom>
          <a:solidFill>
            <a:srgbClr val="F4B183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75" name="Text 57"/>
          <p:cNvSpPr txBox="1"/>
          <p:nvPr/>
        </p:nvSpPr>
        <p:spPr>
          <a:xfrm>
            <a:off x="411480" y="6373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flow + packet pipeline</a:t>
            </a:r>
            <a:endParaRPr lang="en-US" sz="1100" dirty="0"/>
          </a:p>
        </p:txBody>
      </p:sp>
      <p:sp>
        <p:nvSpPr>
          <p:cNvPr id="76" name="Text 58"/>
          <p:cNvSpPr txBox="1"/>
          <p:nvPr/>
        </p:nvSpPr>
        <p:spPr>
          <a:xfrm>
            <a:off x="411480" y="65562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(Scapy) + CIC / CTU-13 / UNSW loaders</a:t>
            </a:r>
            <a:endParaRPr lang="en-US" sz="950" dirty="0"/>
          </a:p>
        </p:txBody>
      </p:sp>
      <p:sp>
        <p:nvSpPr>
          <p:cNvPr id="77" name="Shape 59"/>
          <p:cNvSpPr/>
          <p:nvPr/>
        </p:nvSpPr>
        <p:spPr>
          <a:xfrm>
            <a:off x="4581144" y="6172200"/>
            <a:ext cx="164592" cy="164592"/>
          </a:xfrm>
          <a:prstGeom prst="ellipse">
            <a:avLst/>
          </a:prstGeom>
          <a:solidFill>
            <a:srgbClr val="2E8B57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78" name="Text 60"/>
          <p:cNvSpPr txBox="1"/>
          <p:nvPr/>
        </p:nvSpPr>
        <p:spPr>
          <a:xfrm>
            <a:off x="3291840" y="6373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world model + forecaster</a:t>
            </a:r>
            <a:endParaRPr lang="en-US" sz="1100" dirty="0"/>
          </a:p>
        </p:txBody>
      </p:sp>
      <p:sp>
        <p:nvSpPr>
          <p:cNvPr id="79" name="Text 61"/>
          <p:cNvSpPr txBox="1"/>
          <p:nvPr/>
        </p:nvSpPr>
        <p:spPr>
          <a:xfrm>
            <a:off x="3291840" y="65562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K-step rollouts, Shapley, what-if</a:t>
            </a:r>
            <a:endParaRPr lang="en-US" sz="950" dirty="0"/>
          </a:p>
        </p:txBody>
      </p:sp>
      <p:sp>
        <p:nvSpPr>
          <p:cNvPr id="80" name="Shape 62"/>
          <p:cNvSpPr/>
          <p:nvPr/>
        </p:nvSpPr>
        <p:spPr>
          <a:xfrm>
            <a:off x="7461504" y="6172200"/>
            <a:ext cx="164592" cy="164592"/>
          </a:xfrm>
          <a:prstGeom prst="ellipse">
            <a:avLst/>
          </a:prstGeom>
          <a:solidFill>
            <a:srgbClr val="2E75B6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81" name="Text 63"/>
          <p:cNvSpPr txBox="1"/>
          <p:nvPr/>
        </p:nvSpPr>
        <p:spPr>
          <a:xfrm>
            <a:off x="6172200" y="6373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offline demo app</a:t>
            </a:r>
            <a:endParaRPr lang="en-US" sz="1100" dirty="0"/>
          </a:p>
        </p:txBody>
      </p:sp>
      <p:sp>
        <p:nvSpPr>
          <p:cNvPr id="82" name="Text 64"/>
          <p:cNvSpPr txBox="1"/>
          <p:nvPr/>
        </p:nvSpPr>
        <p:spPr>
          <a:xfrm>
            <a:off x="6172200" y="65562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CLI + signed receipts</a:t>
            </a:r>
            <a:endParaRPr lang="en-US" sz="950" dirty="0"/>
          </a:p>
        </p:txBody>
      </p:sp>
      <p:sp>
        <p:nvSpPr>
          <p:cNvPr id="83" name="Shape 65"/>
          <p:cNvSpPr/>
          <p:nvPr/>
        </p:nvSpPr>
        <p:spPr>
          <a:xfrm>
            <a:off x="10341864" y="6172200"/>
            <a:ext cx="164592" cy="164592"/>
          </a:xfrm>
          <a:prstGeom prst="ellipse">
            <a:avLst/>
          </a:prstGeom>
          <a:solidFill>
            <a:srgbClr val="FFD966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84" name="Text 66"/>
          <p:cNvSpPr txBox="1"/>
          <p:nvPr/>
        </p:nvSpPr>
        <p:spPr>
          <a:xfrm>
            <a:off x="9052560" y="6373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real-data training</a:t>
            </a:r>
            <a:endParaRPr lang="en-US" sz="1100" dirty="0"/>
          </a:p>
        </p:txBody>
      </p:sp>
      <p:sp>
        <p:nvSpPr>
          <p:cNvPr id="85" name="Text 67"/>
          <p:cNvSpPr txBox="1"/>
          <p:nvPr/>
        </p:nvSpPr>
        <p:spPr>
          <a:xfrm>
            <a:off x="9052560" y="65562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CIC-IDS2018, CTU-13, DARPA 2000; CII pilot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entinet/ppt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home/user/sentinet/ppt/img/i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"/>
            <a:ext cx="1216152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7280" y="91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2600" dirty="0"/>
          </a:p>
        </p:txBody>
      </p:sp>
      <p:sp>
        <p:nvSpPr>
          <p:cNvPr id="5" name="Text 1"/>
          <p:cNvSpPr txBox="1"/>
          <p:nvPr/>
        </p:nvSpPr>
        <p:spPr>
          <a:xfrm>
            <a:off x="320040" y="56692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WORLD MODEL ARCHITECTURE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274320" y="932688"/>
            <a:ext cx="562356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7BA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84048" y="987552"/>
            <a:ext cx="5422392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SentiNet learns </a:t>
            </a: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network state changes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An encoder turns each time window into a state, a dynamics model learns </a:t>
            </a: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P(Sₜ₊₁ | Sₜ)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and a rollout engine simulates K steps ahead.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Sₜ (every 60 s window):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graph with hosts as nodes and flows as edges. Flow-level features: TCP flag counts (SYN/ACK/FIN/RST/PSH/URG), bytes, packets, duration, IAT mean/var/max, bidirectional ratio. Packet-level features: TTL mean and variance, TCP window size, fragment flags, payload-size histogram, sequential vs random port order, retransmissions.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Encoder: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edge-weighted GraphSAGE over the host graph + an MLP on the state vector → one latent vector per window, plus one per host.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Dynamics (the world model):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recurrent state-space model (GRU memory + stochastic latent) with a causal Temporal Transformer over the last 30 windows. It learns to predict the next state’s features (self-supervised) and the next ATT&amp;CK stage from the datasets’ attack timelines (supervised dynamics learning).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Forward simulation: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 64 latent paths K = 1…10 windows ahead → P(infiltration within K), predicted stage and next target host.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Explanations: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attention over time and neighbours + SHAP over feature groups → e.g. “top drivers: SYN-only ratio ↑, dst-port entropy ↑, TTL variance ↑”.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035040" y="62179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SENTINET TECH STACK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053328" y="1005840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F4F4F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053328" y="10058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6665976" y="1005840"/>
            <a:ext cx="612648" cy="274320"/>
          </a:xfrm>
          <a:prstGeom prst="roundRect">
            <a:avLst>
              <a:gd name="adj" fmla="val 16667"/>
            </a:avLst>
          </a:prstGeom>
          <a:solidFill>
            <a:srgbClr val="C9E3A6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65976" y="1005840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7324344" y="1005840"/>
            <a:ext cx="704088" cy="274320"/>
          </a:xfrm>
          <a:prstGeom prst="roundRect">
            <a:avLst>
              <a:gd name="adj" fmla="val 16667"/>
            </a:avLst>
          </a:prstGeom>
          <a:solidFill>
            <a:srgbClr val="F3F09B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24344" y="1005840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+ PyG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8074152" y="1005840"/>
            <a:ext cx="795528" cy="274320"/>
          </a:xfrm>
          <a:prstGeom prst="roundRect">
            <a:avLst>
              <a:gd name="adj" fmla="val 16667"/>
            </a:avLst>
          </a:prstGeom>
          <a:solidFill>
            <a:srgbClr val="E9D8B4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74152" y="100584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Scapy / PyShark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8915400" y="10058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915400" y="10058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CICFlowMeter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9619488" y="1005840"/>
            <a:ext cx="704088" cy="27432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619488" y="1005840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/ Captum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10369296" y="1005840"/>
            <a:ext cx="292608" cy="27432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0369296" y="10058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10707624" y="1005840"/>
            <a:ext cx="521208" cy="274320"/>
          </a:xfrm>
          <a:prstGeom prst="roundRect">
            <a:avLst>
              <a:gd name="adj" fmla="val 16667"/>
            </a:avLst>
          </a:prstGeom>
          <a:solidFill>
            <a:srgbClr val="B7E1CD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0707624" y="1005840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750" dirty="0"/>
          </a:p>
        </p:txBody>
      </p:sp>
      <p:sp>
        <p:nvSpPr>
          <p:cNvPr id="25" name="Text 21"/>
          <p:cNvSpPr txBox="1"/>
          <p:nvPr/>
        </p:nvSpPr>
        <p:spPr>
          <a:xfrm>
            <a:off x="6035040" y="13716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WORLD-MODEL PIPELINE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6053328" y="1810512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CE4D6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053328" y="18105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/ CSV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(CIC-IDS2018, CTU-13)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7516368" y="1810512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E7E6E6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516368" y="181051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+ packet level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9116568" y="1810512"/>
            <a:ext cx="1261872" cy="566928"/>
          </a:xfrm>
          <a:prstGeom prst="roundRect">
            <a:avLst>
              <a:gd name="adj" fmla="val 9677"/>
            </a:avLst>
          </a:prstGeom>
          <a:solidFill>
            <a:srgbClr val="FFF2CC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9116568" y="1810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graph Sₜ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 s window)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10607040" y="1810512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DDEBF7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607040" y="18105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encoder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7287768" y="2093976"/>
            <a:ext cx="228600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8887968" y="2093976"/>
            <a:ext cx="228600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10378440" y="2093976"/>
            <a:ext cx="228600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9646920" y="2697480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D9EAD3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9646920" y="26974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dynamics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P(Sₜ₊₁ | Sₜ)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RSSM + Temporal Transformer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11219688" y="2377440"/>
            <a:ext cx="0" cy="32004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6053328" y="2724912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F8CBAD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053328" y="272491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action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 port / isolate host)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7973568" y="3026664"/>
            <a:ext cx="1673352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3" name="Text 39"/>
          <p:cNvSpPr txBox="1"/>
          <p:nvPr/>
        </p:nvSpPr>
        <p:spPr>
          <a:xfrm>
            <a:off x="8046720" y="27980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re-simulate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9646920" y="3657600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FE699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9646920" y="36576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K-step rollout × 64 samples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(forward simulation)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10744200" y="3355848"/>
            <a:ext cx="0" cy="301752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7" name="Shape 43"/>
          <p:cNvSpPr/>
          <p:nvPr/>
        </p:nvSpPr>
        <p:spPr>
          <a:xfrm>
            <a:off x="6053328" y="3657600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EADCF0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053328" y="3657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· CAPEC knowledge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CVE/NVD host exposure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6053328" y="4480560"/>
            <a:ext cx="1810512" cy="502920"/>
          </a:xfrm>
          <a:prstGeom prst="roundRect">
            <a:avLst>
              <a:gd name="adj" fmla="val 10909"/>
            </a:avLst>
          </a:prstGeom>
          <a:solidFill>
            <a:srgbClr val="BDD7EE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053328" y="44805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stage, techniques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mitigations, next host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7991856" y="4480560"/>
            <a:ext cx="1810512" cy="502920"/>
          </a:xfrm>
          <a:prstGeom prst="roundRect">
            <a:avLst>
              <a:gd name="adj" fmla="val 10909"/>
            </a:avLst>
          </a:prstGeom>
          <a:solidFill>
            <a:srgbClr val="C6E0B4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7991856" y="44805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 probability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K windows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9930384" y="4480560"/>
            <a:ext cx="1810512" cy="502920"/>
          </a:xfrm>
          <a:prstGeom prst="roundRect">
            <a:avLst>
              <a:gd name="adj" fmla="val 10909"/>
            </a:avLst>
          </a:prstGeom>
          <a:solidFill>
            <a:srgbClr val="F4CCCC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9930384" y="44805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+ attention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7269480" y="4352544"/>
            <a:ext cx="3566160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0744200" y="4224528"/>
            <a:ext cx="0" cy="128016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57" name="Shape 53"/>
          <p:cNvSpPr/>
          <p:nvPr/>
        </p:nvSpPr>
        <p:spPr>
          <a:xfrm>
            <a:off x="7269480" y="4352544"/>
            <a:ext cx="0" cy="128016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58" name="Shape 54"/>
          <p:cNvSpPr/>
          <p:nvPr/>
        </p:nvSpPr>
        <p:spPr>
          <a:xfrm>
            <a:off x="8897112" y="4352544"/>
            <a:ext cx="0" cy="128016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59" name="Shape 55"/>
          <p:cNvSpPr/>
          <p:nvPr/>
        </p:nvSpPr>
        <p:spPr>
          <a:xfrm>
            <a:off x="10835640" y="4352544"/>
            <a:ext cx="0" cy="128016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60" name="Shape 56"/>
          <p:cNvSpPr/>
          <p:nvPr/>
        </p:nvSpPr>
        <p:spPr>
          <a:xfrm>
            <a:off x="6583680" y="4224528"/>
            <a:ext cx="0" cy="256032"/>
          </a:xfrm>
          <a:prstGeom prst="line">
            <a:avLst/>
          </a:prstGeom>
          <a:noFill/>
          <a:ln w="15875">
            <a:solidFill>
              <a:srgbClr val="8E6BB0"/>
            </a:solidFill>
            <a:prstDash val="solid"/>
            <a:tailEnd type="triangle"/>
          </a:ln>
        </p:spPr>
      </p:sp>
      <p:sp>
        <p:nvSpPr>
          <p:cNvPr id="61" name="Text 57"/>
          <p:cNvSpPr txBox="1"/>
          <p:nvPr/>
        </p:nvSpPr>
        <p:spPr>
          <a:xfrm>
            <a:off x="6053328" y="502920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forecast is signed into our Merkle ledger, so it can be checked later against what actually happened.</a:t>
            </a:r>
            <a:endParaRPr lang="en-US" sz="900" dirty="0"/>
          </a:p>
        </p:txBody>
      </p:sp>
      <p:sp>
        <p:nvSpPr>
          <p:cNvPr id="62" name="Text 58"/>
          <p:cNvSpPr txBox="1"/>
          <p:nvPr/>
        </p:nvSpPr>
        <p:spPr>
          <a:xfrm>
            <a:off x="274320" y="475488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 ATTACK STAGES  (MITRE ATT&amp;CK)</a:t>
            </a:r>
            <a:endParaRPr lang="en-US" sz="1500" dirty="0"/>
          </a:p>
        </p:txBody>
      </p:sp>
      <p:sp>
        <p:nvSpPr>
          <p:cNvPr id="63" name="Shape 59"/>
          <p:cNvSpPr/>
          <p:nvPr/>
        </p:nvSpPr>
        <p:spPr>
          <a:xfrm>
            <a:off x="274320" y="5120640"/>
            <a:ext cx="56235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7BA3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84048" y="5285232"/>
            <a:ext cx="914400" cy="713232"/>
          </a:xfrm>
          <a:prstGeom prst="roundRect">
            <a:avLst>
              <a:gd name="adj" fmla="val 10256"/>
            </a:avLst>
          </a:prstGeom>
          <a:solidFill>
            <a:srgbClr val="FCE4D6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384048" y="5303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sance</a:t>
            </a:r>
            <a:endParaRPr lang="en-US" sz="1000" dirty="0"/>
          </a:p>
        </p:txBody>
      </p:sp>
      <p:sp>
        <p:nvSpPr>
          <p:cNvPr id="66" name="Text 62"/>
          <p:cNvSpPr txBox="1"/>
          <p:nvPr/>
        </p:nvSpPr>
        <p:spPr>
          <a:xfrm>
            <a:off x="384048" y="5760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T1595 · T1046</a:t>
            </a:r>
            <a:endParaRPr lang="en-US" sz="750" dirty="0"/>
          </a:p>
        </p:txBody>
      </p:sp>
      <p:sp>
        <p:nvSpPr>
          <p:cNvPr id="67" name="Shape 63"/>
          <p:cNvSpPr/>
          <p:nvPr/>
        </p:nvSpPr>
        <p:spPr>
          <a:xfrm>
            <a:off x="1298448" y="5641848"/>
            <a:ext cx="182880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68" name="Shape 64"/>
          <p:cNvSpPr/>
          <p:nvPr/>
        </p:nvSpPr>
        <p:spPr>
          <a:xfrm>
            <a:off x="1481328" y="5285232"/>
            <a:ext cx="914400" cy="713232"/>
          </a:xfrm>
          <a:prstGeom prst="roundRect">
            <a:avLst>
              <a:gd name="adj" fmla="val 10256"/>
            </a:avLst>
          </a:prstGeom>
          <a:solidFill>
            <a:srgbClr val="E7E6E6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1481328" y="5303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 dirty="0"/>
          </a:p>
        </p:txBody>
      </p:sp>
      <p:sp>
        <p:nvSpPr>
          <p:cNvPr id="70" name="Text 66"/>
          <p:cNvSpPr txBox="1"/>
          <p:nvPr/>
        </p:nvSpPr>
        <p:spPr>
          <a:xfrm>
            <a:off x="1481328" y="5760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T1190 · T1110</a:t>
            </a:r>
            <a:endParaRPr lang="en-US" sz="750" dirty="0"/>
          </a:p>
        </p:txBody>
      </p:sp>
      <p:sp>
        <p:nvSpPr>
          <p:cNvPr id="71" name="Shape 67"/>
          <p:cNvSpPr/>
          <p:nvPr/>
        </p:nvSpPr>
        <p:spPr>
          <a:xfrm>
            <a:off x="2395728" y="5641848"/>
            <a:ext cx="182880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72" name="Shape 68"/>
          <p:cNvSpPr/>
          <p:nvPr/>
        </p:nvSpPr>
        <p:spPr>
          <a:xfrm>
            <a:off x="2578608" y="5285232"/>
            <a:ext cx="914400" cy="713232"/>
          </a:xfrm>
          <a:prstGeom prst="roundRect">
            <a:avLst>
              <a:gd name="adj" fmla="val 10256"/>
            </a:avLst>
          </a:prstGeom>
          <a:solidFill>
            <a:srgbClr val="FFE699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2578608" y="5303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000" dirty="0"/>
          </a:p>
        </p:txBody>
      </p:sp>
      <p:sp>
        <p:nvSpPr>
          <p:cNvPr id="74" name="Text 70"/>
          <p:cNvSpPr txBox="1"/>
          <p:nvPr/>
        </p:nvSpPr>
        <p:spPr>
          <a:xfrm>
            <a:off x="2578608" y="5760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T1021 · T1570</a:t>
            </a:r>
            <a:endParaRPr lang="en-US" sz="750" dirty="0"/>
          </a:p>
        </p:txBody>
      </p:sp>
      <p:sp>
        <p:nvSpPr>
          <p:cNvPr id="75" name="Shape 71"/>
          <p:cNvSpPr/>
          <p:nvPr/>
        </p:nvSpPr>
        <p:spPr>
          <a:xfrm>
            <a:off x="3493008" y="5641848"/>
            <a:ext cx="182880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76" name="Shape 72"/>
          <p:cNvSpPr/>
          <p:nvPr/>
        </p:nvSpPr>
        <p:spPr>
          <a:xfrm>
            <a:off x="3675888" y="5285232"/>
            <a:ext cx="914400" cy="713232"/>
          </a:xfrm>
          <a:prstGeom prst="roundRect">
            <a:avLst>
              <a:gd name="adj" fmla="val 10256"/>
            </a:avLst>
          </a:prstGeom>
          <a:solidFill>
            <a:srgbClr val="BDD7EE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3675888" y="5303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78" name="Text 74"/>
          <p:cNvSpPr txBox="1"/>
          <p:nvPr/>
        </p:nvSpPr>
        <p:spPr>
          <a:xfrm>
            <a:off x="3675888" y="5760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T1071 · T1573</a:t>
            </a:r>
            <a:endParaRPr lang="en-US" sz="750" dirty="0"/>
          </a:p>
        </p:txBody>
      </p:sp>
      <p:sp>
        <p:nvSpPr>
          <p:cNvPr id="79" name="Shape 75"/>
          <p:cNvSpPr/>
          <p:nvPr/>
        </p:nvSpPr>
        <p:spPr>
          <a:xfrm>
            <a:off x="4590288" y="5641848"/>
            <a:ext cx="182880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80" name="Shape 76"/>
          <p:cNvSpPr/>
          <p:nvPr/>
        </p:nvSpPr>
        <p:spPr>
          <a:xfrm>
            <a:off x="4773168" y="5285232"/>
            <a:ext cx="914400" cy="713232"/>
          </a:xfrm>
          <a:prstGeom prst="roundRect">
            <a:avLst>
              <a:gd name="adj" fmla="val 10256"/>
            </a:avLst>
          </a:prstGeom>
          <a:solidFill>
            <a:srgbClr val="C6E0B4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4773168" y="5303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000" dirty="0"/>
          </a:p>
        </p:txBody>
      </p:sp>
      <p:sp>
        <p:nvSpPr>
          <p:cNvPr id="82" name="Text 78"/>
          <p:cNvSpPr txBox="1"/>
          <p:nvPr/>
        </p:nvSpPr>
        <p:spPr>
          <a:xfrm>
            <a:off x="4773168" y="5760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T1041 · T1048</a:t>
            </a:r>
            <a:endParaRPr lang="en-US" sz="750" dirty="0"/>
          </a:p>
        </p:txBody>
      </p:sp>
      <p:sp>
        <p:nvSpPr>
          <p:cNvPr id="83" name="Text 79"/>
          <p:cNvSpPr txBox="1"/>
          <p:nvPr/>
        </p:nvSpPr>
        <p:spPr>
          <a:xfrm>
            <a:off x="384048" y="6071616"/>
            <a:ext cx="5440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labels (e.g. CIC-IDS2018 “Infiltration”, “Brute Force”, “Bot”; DARPA 2000 LLDOS phases 1–5) are mapped to these stages. The benign → recon → access transitions are the ones the model must learn to see coming.</a:t>
            </a:r>
            <a:endParaRPr lang="en-US" sz="950" dirty="0"/>
          </a:p>
        </p:txBody>
      </p:sp>
      <p:sp>
        <p:nvSpPr>
          <p:cNvPr id="84" name="Shape 80"/>
          <p:cNvSpPr/>
          <p:nvPr/>
        </p:nvSpPr>
        <p:spPr>
          <a:xfrm>
            <a:off x="6053328" y="5303520"/>
            <a:ext cx="58064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6144768" y="5349240"/>
            <a:ext cx="5623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dynamics learning: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ground-truth transitions come from each dataset’s attack timeline. The loss weights transitions into attack stages, so rare stages are learned. </a:t>
            </a: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per window: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P(infiltration in the next K windows), predicted stage, top contributing flags/ports/flow stats, and the next target host. </a:t>
            </a: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a static classifier: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show it by shuffling time. If accuracy does not drop, it has not learned dynamics.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entinet/ppt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home/user/sentinet/ppt/img/i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"/>
            <a:ext cx="1216152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7280" y="91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&amp; VIABILITY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66928" y="713232"/>
            <a:ext cx="8823960" cy="2670048"/>
          </a:xfrm>
          <a:prstGeom prst="rect">
            <a:avLst/>
          </a:prstGeom>
          <a:solidFill>
            <a:srgbClr val="F9E3D8"/>
          </a:solidFill>
          <a:ln w="12700">
            <a:solidFill>
              <a:srgbClr val="B28F8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9875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POTENTIAL CHALLENGES AND RISKS: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1371600"/>
            <a:ext cx="4526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windows are rare: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time is a small fraction of each capture, and stages like exfiltration are rarer still.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may carry no signal: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earlier project found shuffling time changed nothing. Here we test it on every result: shuffling history drops F1 from 0.865 to 0.347.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shift: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model trained on a lab network may not carry over to a real enterprise or CII network.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486400" y="7680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 Funnel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577840" y="1042416"/>
            <a:ext cx="2194560" cy="2194560"/>
          </a:xfrm>
          <a:prstGeom prst="ellipse">
            <a:avLst/>
          </a:prstGeom>
          <a:solidFill>
            <a:srgbClr val="D4E157"/>
          </a:solidFill>
          <a:ln w="12700">
            <a:solidFill>
              <a:srgbClr val="AFB42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897880" y="1481328"/>
            <a:ext cx="1737360" cy="1737360"/>
          </a:xfrm>
          <a:prstGeom prst="ellipse">
            <a:avLst/>
          </a:prstGeom>
          <a:solidFill>
            <a:srgbClr val="AED581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99632" y="1938528"/>
            <a:ext cx="1280160" cy="1280160"/>
          </a:xfrm>
          <a:prstGeom prst="ellipse">
            <a:avLst/>
          </a:prstGeom>
          <a:solidFill>
            <a:srgbClr val="F4A46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577840" y="11704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$7.96 Bn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5897880" y="1627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$878 Mn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6199632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$26 Mn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882128" y="960120"/>
            <a:ext cx="14447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TAM  $7.96 Bn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Intrusion Detection &amp; Prevention market, 2026 (Precedence Research)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  up to $878 Mn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India OT security market, 2026 (MarketsandMarkets)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  ≈ $26 Mn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aim for 3% of the available market: SOCs that want early warning, not only alerts.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528048" y="713232"/>
            <a:ext cx="2331720" cy="4617720"/>
          </a:xfrm>
          <a:prstGeom prst="rect">
            <a:avLst/>
          </a:prstGeom>
          <a:solidFill>
            <a:srgbClr val="F9E3D8"/>
          </a:solidFill>
          <a:ln w="12700">
            <a:solidFill>
              <a:srgbClr val="B28F8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619488" y="82296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4F62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STRATEGIES TO OVERCOME THESE CHALLENGES: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9619488" y="1444752"/>
            <a:ext cx="21762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 the rare stages: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focal loss, oversampling of attack transitions, training on several datasets (CIC-IDS2018, CTU-13, UNSW-NB15, CICIoT2023).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Prove the time effect: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result is shown next to logistic regression on the same features and next to our model with time shuffled. If there is no gap, we say so.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No-leak, unseen-attack tests: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split by time, never by random row. Hold out whole attack families and whole datasets. Fine-tune per site on ~10 days of its own benign traffic.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02152"/>
          <a:ext cx="8823960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2651760"/>
                <a:gridCol w="32004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Component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Trained / tested 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we will report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 pipeline · Scapy + CICFlowMeter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CIC-IDS2018 CSV + PCAP, CTU-13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Timestamped, normalised flow + packet matrix; flows/s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World model · RSSM + Transformer + GNN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CIC-IDS2018, CTU-13, UNSW-NB15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Next-state error; stage F1 at t+1…t+K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Forecast engine · K-step rollout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DARPA 2000 LLDOS, LANL red team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Lead time before compromise; AUC@K; Brier score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 · Logistic regression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Same features, same time split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F1, precision, recall, FPR, side by side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Generalisation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Leave-one-attack-out; CICIoT2023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 on attack types never seen in training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Explainer · SHAP + attention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All of the above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Deletion test: remove top-5 drivers → risk must fall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5"/>
          <p:cNvSpPr txBox="1"/>
          <p:nvPr/>
        </p:nvSpPr>
        <p:spPr>
          <a:xfrm>
            <a:off x="9528048" y="5394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*Current scores are on held-out simulated scenarios (bundled simulator). This table is the real-data plan.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566928" y="5440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PROOF IT RUNS TODAY: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66928" y="5870448"/>
            <a:ext cx="2697480" cy="731520"/>
          </a:xfrm>
          <a:prstGeom prst="rect">
            <a:avLst/>
          </a:prstGeom>
          <a:solidFill>
            <a:srgbClr val="FDF3EE"/>
          </a:solidFill>
          <a:ln w="9525">
            <a:solidFill>
              <a:srgbClr val="C0504D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40080" y="5907024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 on a laptop CPU: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h of traffic (67,650 flows) forecast in ~2 s: 720 windows x 64 simulated futures.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3401568" y="5870448"/>
            <a:ext cx="2697480" cy="731520"/>
          </a:xfrm>
          <a:prstGeom prst="rect">
            <a:avLst/>
          </a:prstGeom>
          <a:solidFill>
            <a:srgbClr val="FDF3EE"/>
          </a:solidFill>
          <a:ln w="9525">
            <a:solidFill>
              <a:srgbClr val="C0504D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474720" y="5907024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PCAP in, offline: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441k-packet PCAP parsed into flow + packet features in 2.7 s. No GPU, no cloud.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236208" y="5870448"/>
            <a:ext cx="2697480" cy="731520"/>
          </a:xfrm>
          <a:prstGeom prst="rect">
            <a:avLst/>
          </a:prstGeom>
          <a:solidFill>
            <a:srgbClr val="FDF3EE"/>
          </a:solidFill>
          <a:ln w="9525">
            <a:solidFill>
              <a:srgbClr val="C0504D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309360" y="5907024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Beats the baseline: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F1 0.865 vs 0.483 (logistic regression) at the same 3.1% false-positive rate.*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9070848" y="5870448"/>
            <a:ext cx="2697480" cy="731520"/>
          </a:xfrm>
          <a:prstGeom prst="rect">
            <a:avLst/>
          </a:prstGeom>
          <a:solidFill>
            <a:srgbClr val="FDF3EE"/>
          </a:solidFill>
          <a:ln w="9525">
            <a:solidFill>
              <a:srgbClr val="C0504D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144000" y="5907024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Tested: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 automated tests: loaders, PCAP round-trip, Shapley efficiency, tamper detection.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entinet/ppt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home/user/sentinet/ppt/img/i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"/>
            <a:ext cx="1216152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7280" y="91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&amp; BENEFITS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274320" y="548640"/>
            <a:ext cx="589788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274320" y="576072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SENTINET VS. EXISTING TOOLS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932688"/>
          <a:ext cx="5760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96112"/>
                <a:gridCol w="896112"/>
                <a:gridCol w="859536"/>
                <a:gridCol w="868680"/>
                <a:gridCol w="868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Forecasts next stage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time dynamics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ATT&amp;CK stage mapping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 each output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offline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3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K-step probability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world 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per forecast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SHAP + attention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Snort / Suricata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rules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(rule tags)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name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flow classifiers (RF / XGBoost IDS)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one flow at a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Sometimes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NDR / SIEM (e.g. Darktrace, Splunk)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scores, not stage forecasts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Varies: often cloud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274320" y="3493008"/>
            <a:ext cx="5897880" cy="3246120"/>
          </a:xfrm>
          <a:prstGeom prst="rect">
            <a:avLst/>
          </a:prstGeom>
          <a:solidFill>
            <a:srgbClr val="DDE6F3"/>
          </a:solidFill>
          <a:ln w="15875">
            <a:solidFill>
              <a:srgbClr val="8EA2C0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274320" y="3511296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IMPACTS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384048" y="3840480"/>
            <a:ext cx="5669280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57200" y="3858768"/>
            <a:ext cx="5532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spot: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SOCs protecting India’s power, banking, telecom and government networks see an attack only after a stage completes, and CERT-In’s 6-hour reporting clock starts after the damage is done.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84048" y="4443984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57200" y="4443984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 minutes to hours ahead, naming the next stage and the host likely hit next.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84048" y="4818888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57200" y="4818888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operators: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warning while the attacker is still scanning.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84048" y="5193792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57200" y="5193792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analysts: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forecast carrying the whole chain and its drivers, not scattered alerts.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84048" y="5568696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57200" y="5568696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auditors: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forecast is signed and later checked against reality, so accuracy itself is auditable.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84048" y="5943600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57200" y="5943600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nation: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the premises of NCIIPC-notified CII. No traffic data leaves the site.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84048" y="6318504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57200" y="6318504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this: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rail signalling, smart grids and IoT (tested on CICIoT2023).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291072" y="548640"/>
            <a:ext cx="557784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291072" y="57607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CASES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400800" y="941832"/>
            <a:ext cx="2587752" cy="1115568"/>
          </a:xfrm>
          <a:prstGeom prst="roundRect">
            <a:avLst>
              <a:gd name="adj" fmla="val 4918"/>
            </a:avLst>
          </a:prstGeom>
          <a:solidFill>
            <a:srgbClr val="E07B53"/>
          </a:solidFill>
          <a:ln w="12700">
            <a:solidFill>
              <a:srgbClr val="E07B53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33272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766560" y="98755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&amp; Energy Grid (CII)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6492240" y="1344168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recon → lateral movement towards SCADA hosts before control is reached.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9098280" y="941832"/>
            <a:ext cx="2587752" cy="1115568"/>
          </a:xfrm>
          <a:prstGeom prst="roundRect">
            <a:avLst>
              <a:gd name="adj" fmla="val 4918"/>
            </a:avLst>
          </a:prstGeom>
          <a:solidFill>
            <a:srgbClr val="1E9BE9"/>
          </a:solidFill>
          <a:ln w="12700">
            <a:solidFill>
              <a:srgbClr val="1E9BE9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033272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464040" y="98755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Government SOC &amp; CERT-In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189720" y="1344168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ATT&amp;CK-mapped forecasts and signed evidence fit the 6-hour reporting rule.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400800" y="2148840"/>
            <a:ext cx="2587752" cy="1115568"/>
          </a:xfrm>
          <a:prstGeom prst="roundRect">
            <a:avLst>
              <a:gd name="adj" fmla="val 4918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240280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766560" y="219456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Banking &amp; Finance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6492240" y="2551176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brute-force → access → exfiltration and names the server at risk.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9098280" y="2148840"/>
            <a:ext cx="2587752" cy="1115568"/>
          </a:xfrm>
          <a:prstGeom prst="roundRect">
            <a:avLst>
              <a:gd name="adj" fmla="val 4918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2240280"/>
            <a:ext cx="219456" cy="219456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464040" y="219456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Enterprises, MSMEs &amp; Colleges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9189720" y="2551176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CPU-only, offline, one SPAN port: early warning they can afford.</a:t>
            </a:r>
            <a:endParaRPr lang="en-US" sz="1150" dirty="0"/>
          </a:p>
        </p:txBody>
      </p:sp>
      <p:sp>
        <p:nvSpPr>
          <p:cNvPr id="42" name="Shape 33"/>
          <p:cNvSpPr/>
          <p:nvPr/>
        </p:nvSpPr>
        <p:spPr>
          <a:xfrm>
            <a:off x="6291072" y="3493008"/>
            <a:ext cx="5577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382512" y="3593592"/>
            <a:ext cx="1737360" cy="3054096"/>
          </a:xfrm>
          <a:prstGeom prst="roundRect">
            <a:avLst>
              <a:gd name="adj" fmla="val 3158"/>
            </a:avLst>
          </a:prstGeom>
          <a:solidFill>
            <a:srgbClr val="CFE0DC"/>
          </a:solidFill>
          <a:ln w="12700">
            <a:solidFill>
              <a:srgbClr val="CFE0DC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3712464"/>
            <a:ext cx="182880" cy="18288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684264" y="3666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Benefits</a:t>
            </a:r>
            <a:endParaRPr lang="en-US" sz="1150" dirty="0"/>
          </a:p>
        </p:txBody>
      </p:sp>
      <p:sp>
        <p:nvSpPr>
          <p:cNvPr id="46" name="Text 36"/>
          <p:cNvSpPr txBox="1"/>
          <p:nvPr/>
        </p:nvSpPr>
        <p:spPr>
          <a:xfrm>
            <a:off x="6473952" y="4023360"/>
            <a:ext cx="157276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before compromise: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block, isolate or watch while the attacker is still in recon.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next target: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is focused on the host most likely hit next.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the unseen: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stage behaviour, not signatures.</a:t>
            </a:r>
            <a:endParaRPr lang="en-US" sz="1100" dirty="0"/>
          </a:p>
        </p:txBody>
      </p:sp>
      <p:sp>
        <p:nvSpPr>
          <p:cNvPr id="47" name="Shape 37"/>
          <p:cNvSpPr/>
          <p:nvPr/>
        </p:nvSpPr>
        <p:spPr>
          <a:xfrm>
            <a:off x="8211312" y="3593592"/>
            <a:ext cx="1737360" cy="3054096"/>
          </a:xfrm>
          <a:prstGeom prst="roundRect">
            <a:avLst>
              <a:gd name="adj" fmla="val 3158"/>
            </a:avLst>
          </a:prstGeom>
          <a:solidFill>
            <a:srgbClr val="F4CFC6"/>
          </a:solidFill>
          <a:ln w="12700">
            <a:solidFill>
              <a:srgbClr val="F4CFC6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752" y="3712464"/>
            <a:ext cx="182880" cy="18288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8513064" y="3666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Benefits</a:t>
            </a:r>
            <a:endParaRPr lang="en-US" sz="1150" dirty="0"/>
          </a:p>
        </p:txBody>
      </p:sp>
      <p:sp>
        <p:nvSpPr>
          <p:cNvPr id="50" name="Text 39"/>
          <p:cNvSpPr txBox="1"/>
          <p:nvPr/>
        </p:nvSpPr>
        <p:spPr>
          <a:xfrm>
            <a:off x="8302752" y="4023360"/>
            <a:ext cx="157276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to stop early: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containing at recon costs far less than cleaning up a breach.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hardware cost: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CPU box per segment, no GPU, no licence fees.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alert fatigue: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forecast per campaign, not dozens of alerts.</a:t>
            </a:r>
            <a:endParaRPr lang="en-US" sz="1100" dirty="0"/>
          </a:p>
        </p:txBody>
      </p:sp>
      <p:sp>
        <p:nvSpPr>
          <p:cNvPr id="51" name="Shape 40"/>
          <p:cNvSpPr/>
          <p:nvPr/>
        </p:nvSpPr>
        <p:spPr>
          <a:xfrm>
            <a:off x="10040112" y="3593592"/>
            <a:ext cx="1737360" cy="3054096"/>
          </a:xfrm>
          <a:prstGeom prst="roundRect">
            <a:avLst>
              <a:gd name="adj" fmla="val 3158"/>
            </a:avLst>
          </a:prstGeom>
          <a:solidFill>
            <a:srgbClr val="D5E3E0"/>
          </a:solidFill>
          <a:ln w="12700">
            <a:solidFill>
              <a:srgbClr val="D5E3E0"/>
            </a:solidFill>
            <a:prstDash val="solid"/>
          </a:ln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1552" y="3712464"/>
            <a:ext cx="182880" cy="182880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10341864" y="3666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Benefits</a:t>
            </a:r>
            <a:endParaRPr lang="en-US" sz="1150" dirty="0"/>
          </a:p>
        </p:txBody>
      </p:sp>
      <p:sp>
        <p:nvSpPr>
          <p:cNvPr id="54" name="Text 42"/>
          <p:cNvSpPr txBox="1"/>
          <p:nvPr/>
        </p:nvSpPr>
        <p:spPr>
          <a:xfrm>
            <a:off x="10131552" y="4023360"/>
            <a:ext cx="157276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open source: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weights and training configs included, reproducible.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levels of traffic: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+ packet features fused on a graph.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defensive action in the model first.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entinet/ppt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home/user/sentinet/ppt/img/i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"/>
            <a:ext cx="1216152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7280" y="91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&amp; REFERENCES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228600" y="548640"/>
            <a:ext cx="3063240" cy="3886200"/>
          </a:xfrm>
          <a:prstGeom prst="rect">
            <a:avLst/>
          </a:prstGeom>
          <a:solidFill>
            <a:srgbClr val="DFE6F2"/>
          </a:solidFill>
          <a:ln w="12700">
            <a:solidFill>
              <a:srgbClr val="8EA2C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228600" y="60350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320040" y="950976"/>
            <a:ext cx="28803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987552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" y="9875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Models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11480" y="11887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&amp; Schmidhuber, 2018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411480" y="13624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an internal model, then roll it forward.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20040" y="1636776"/>
            <a:ext cx="28803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11480" y="1673352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1480" y="16733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Dynamics (RSSM)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11480" y="1874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Hafner et al., DreamerV3, 2023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11480" y="20482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recurrent state-space model we adapt to network state.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20040" y="2322576"/>
            <a:ext cx="28803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1480" y="2359152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11480" y="23591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NIDS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11480" y="25603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et al., E-GraphSAGE, IEEE NOMS 2022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411480" y="27340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as graph edges; basis of our encoder.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20040" y="3008376"/>
            <a:ext cx="28803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11480" y="3044952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11480" y="30449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Forecasting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11480" y="32461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Husák et al., IEEE COMST 2019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411480" y="34198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attack projection, prediction &amp; forecasting.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320040" y="3694176"/>
            <a:ext cx="28803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11480" y="3730752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11480" y="37307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411480" y="39319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 &amp; Lee, NeurIPS 2017 (SHAP)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411480" y="41056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attribution for every forecast.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228600" y="4526280"/>
            <a:ext cx="3063240" cy="2240280"/>
          </a:xfrm>
          <a:prstGeom prst="rect">
            <a:avLst/>
          </a:prstGeom>
          <a:solidFill>
            <a:srgbClr val="EDEFF2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320040" y="4572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LINKS </a:t>
            </a:r>
            <a:r>
              <a:rPr lang="en-US" sz="10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(Ctrl + Click on the blue words)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347472" y="49377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0D4DA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5001768"/>
            <a:ext cx="256032" cy="256032"/>
          </a:xfrm>
          <a:prstGeom prst="rect">
            <a:avLst/>
          </a:prstGeom>
        </p:spPr>
      </p:pic>
      <p:sp>
        <p:nvSpPr>
          <p:cNvPr id="36" name="Text 31">
            <a:hlinkClick r:id="rId4" tooltip=""/>
          </p:cNvPr>
          <p:cNvSpPr txBox="1"/>
          <p:nvPr/>
        </p:nvSpPr>
        <p:spPr>
          <a:xfrm>
            <a:off x="822960" y="4937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Video - Prototype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347472" y="5385816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0D4DA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5449824"/>
            <a:ext cx="256032" cy="256032"/>
          </a:xfrm>
          <a:prstGeom prst="rect">
            <a:avLst/>
          </a:prstGeom>
        </p:spPr>
      </p:pic>
      <p:sp>
        <p:nvSpPr>
          <p:cNvPr id="39" name="Text 33">
            <a:hlinkClick r:id="rId6" tooltip=""/>
          </p:cNvPr>
          <p:cNvSpPr txBox="1"/>
          <p:nvPr/>
        </p:nvSpPr>
        <p:spPr>
          <a:xfrm>
            <a:off x="822960" y="53858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347472" y="5833872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0D4DA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5897880"/>
            <a:ext cx="256032" cy="256032"/>
          </a:xfrm>
          <a:prstGeom prst="rect">
            <a:avLst/>
          </a:prstGeom>
        </p:spPr>
      </p:pic>
      <p:sp>
        <p:nvSpPr>
          <p:cNvPr id="42" name="Text 35">
            <a:hlinkClick r:id="rId8" tooltip=""/>
          </p:cNvPr>
          <p:cNvSpPr txBox="1"/>
          <p:nvPr/>
        </p:nvSpPr>
        <p:spPr>
          <a:xfrm>
            <a:off x="822960" y="58338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347472" y="628192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0D4DA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912" y="6345936"/>
            <a:ext cx="256032" cy="256032"/>
          </a:xfrm>
          <a:prstGeom prst="rect">
            <a:avLst/>
          </a:prstGeom>
        </p:spPr>
      </p:pic>
      <p:sp>
        <p:nvSpPr>
          <p:cNvPr id="45" name="Text 37">
            <a:hlinkClick r:id="rId10" tooltip=""/>
          </p:cNvPr>
          <p:cNvSpPr txBox="1"/>
          <p:nvPr/>
        </p:nvSpPr>
        <p:spPr>
          <a:xfrm>
            <a:off x="822960" y="62819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3401568" y="548640"/>
            <a:ext cx="4617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3401568" y="603504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SentiNet · Standards &amp; Knowledge Alignment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3502152" y="914400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DDEBF7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49" name="Text 41"/>
          <p:cNvSpPr txBox="1"/>
          <p:nvPr/>
        </p:nvSpPr>
        <p:spPr>
          <a:xfrm>
            <a:off x="3575304" y="960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100" dirty="0"/>
          </a:p>
        </p:txBody>
      </p:sp>
      <p:sp>
        <p:nvSpPr>
          <p:cNvPr id="50" name="Text 42"/>
          <p:cNvSpPr txBox="1"/>
          <p:nvPr/>
        </p:nvSpPr>
        <p:spPr>
          <a:xfrm>
            <a:off x="3575304" y="118872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labels + technique IDs for every forecast (T1595, T1190, T1021, T1071, T1041…).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5742432" y="914400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E2EFDA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5815584" y="960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CAPEC</a:t>
            </a:r>
            <a:endParaRPr lang="en-US" sz="1100" dirty="0"/>
          </a:p>
        </p:txBody>
      </p:sp>
      <p:sp>
        <p:nvSpPr>
          <p:cNvPr id="53" name="Text 45"/>
          <p:cNvSpPr txBox="1"/>
          <p:nvPr/>
        </p:nvSpPr>
        <p:spPr>
          <a:xfrm>
            <a:off x="5815584" y="118872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patterns linked to every ATT&amp;CK technique the evidence points to.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3502152" y="1984248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FFF2CC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3575304" y="20299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/ NVD</a:t>
            </a:r>
            <a:endParaRPr lang="en-US" sz="1100" dirty="0"/>
          </a:p>
        </p:txBody>
      </p:sp>
      <p:sp>
        <p:nvSpPr>
          <p:cNvPr id="56" name="Text 48"/>
          <p:cNvSpPr txBox="1"/>
          <p:nvPr/>
        </p:nvSpPr>
        <p:spPr>
          <a:xfrm>
            <a:off x="3575304" y="225856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exposure of each host’s open services raises its chance of being next.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5742432" y="1984248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FCE4D6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5815584" y="20299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NCIIPC · CII</a:t>
            </a:r>
            <a:endParaRPr lang="en-US" sz="1100" dirty="0"/>
          </a:p>
        </p:txBody>
      </p:sp>
      <p:sp>
        <p:nvSpPr>
          <p:cNvPr id="59" name="Text 51"/>
          <p:cNvSpPr txBox="1"/>
          <p:nvPr/>
        </p:nvSpPr>
        <p:spPr>
          <a:xfrm>
            <a:off x="5815584" y="225856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fits NCIIPC guidance for protected systems: on-prem, passive, no data leaves.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3502152" y="3054096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EADCF0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61" name="Text 53"/>
          <p:cNvSpPr txBox="1"/>
          <p:nvPr/>
        </p:nvSpPr>
        <p:spPr>
          <a:xfrm>
            <a:off x="3575304" y="3099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</a:t>
            </a:r>
            <a:endParaRPr lang="en-US" sz="1100" dirty="0"/>
          </a:p>
        </p:txBody>
      </p:sp>
      <p:sp>
        <p:nvSpPr>
          <p:cNvPr id="62" name="Text 54"/>
          <p:cNvSpPr txBox="1"/>
          <p:nvPr/>
        </p:nvSpPr>
        <p:spPr>
          <a:xfrm>
            <a:off x="3575304" y="332841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ATT&amp;CK-mapped, signed forecasts support the 6-hour incident reporting rule.</a:t>
            </a:r>
            <a:endParaRPr lang="en-US" sz="900" dirty="0"/>
          </a:p>
        </p:txBody>
      </p:sp>
      <p:sp>
        <p:nvSpPr>
          <p:cNvPr id="63" name="Shape 55"/>
          <p:cNvSpPr/>
          <p:nvPr/>
        </p:nvSpPr>
        <p:spPr>
          <a:xfrm>
            <a:off x="5742432" y="3054096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E7E6E6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64" name="Text 56"/>
          <p:cNvSpPr txBox="1"/>
          <p:nvPr/>
        </p:nvSpPr>
        <p:spPr>
          <a:xfrm>
            <a:off x="5815584" y="3099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6962</a:t>
            </a:r>
            <a:endParaRPr lang="en-US" sz="1100" dirty="0"/>
          </a:p>
        </p:txBody>
      </p:sp>
      <p:sp>
        <p:nvSpPr>
          <p:cNvPr id="65" name="Text 57"/>
          <p:cNvSpPr txBox="1"/>
          <p:nvPr/>
        </p:nvSpPr>
        <p:spPr>
          <a:xfrm>
            <a:off x="5815584" y="332841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transparency log (as used for web certificates) for tamper-evident forecast receipts.</a:t>
            </a:r>
            <a:endParaRPr lang="en-US" sz="900" dirty="0"/>
          </a:p>
        </p:txBody>
      </p:sp>
      <p:sp>
        <p:nvSpPr>
          <p:cNvPr id="66" name="Shape 58"/>
          <p:cNvSpPr/>
          <p:nvPr/>
        </p:nvSpPr>
        <p:spPr>
          <a:xfrm>
            <a:off x="3401568" y="4251960"/>
            <a:ext cx="4617720" cy="2514600"/>
          </a:xfrm>
          <a:prstGeom prst="rect">
            <a:avLst/>
          </a:prstGeom>
          <a:solidFill>
            <a:srgbClr val="DFE6F2"/>
          </a:solidFill>
          <a:ln w="12700">
            <a:solidFill>
              <a:srgbClr val="8EA2C0"/>
            </a:solidFill>
            <a:prstDash val="solid"/>
          </a:ln>
        </p:spPr>
      </p:sp>
      <p:sp>
        <p:nvSpPr>
          <p:cNvPr id="67" name="Text 59"/>
          <p:cNvSpPr txBox="1"/>
          <p:nvPr/>
        </p:nvSpPr>
        <p:spPr>
          <a:xfrm>
            <a:off x="3401568" y="427939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IMPLEMENTATION</a:t>
            </a:r>
            <a:endParaRPr lang="en-US" sz="1500" dirty="0"/>
          </a:p>
        </p:txBody>
      </p:sp>
      <p:sp>
        <p:nvSpPr>
          <p:cNvPr id="68" name="Shape 60"/>
          <p:cNvSpPr/>
          <p:nvPr/>
        </p:nvSpPr>
        <p:spPr>
          <a:xfrm>
            <a:off x="3493008" y="4617720"/>
            <a:ext cx="4434840" cy="237744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69" name="Text 61"/>
          <p:cNvSpPr txBox="1"/>
          <p:nvPr/>
        </p:nvSpPr>
        <p:spPr>
          <a:xfrm>
            <a:off x="3566160" y="461772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CIC-IDS2017/2018: flows + PCAP, day-wise attack timelines</a:t>
            </a:r>
            <a:endParaRPr lang="en-US" sz="950" dirty="0"/>
          </a:p>
        </p:txBody>
      </p:sp>
      <p:sp>
        <p:nvSpPr>
          <p:cNvPr id="70" name="Shape 62"/>
          <p:cNvSpPr/>
          <p:nvPr/>
        </p:nvSpPr>
        <p:spPr>
          <a:xfrm>
            <a:off x="3493008" y="4882896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71" name="Text 63"/>
          <p:cNvSpPr txBox="1"/>
          <p:nvPr/>
        </p:nvSpPr>
        <p:spPr>
          <a:xfrm>
            <a:off x="3566160" y="488289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CTU-13: 13 botnet scenarios, labelled NetFlow + PCAP</a:t>
            </a:r>
            <a:endParaRPr lang="en-US" sz="950" dirty="0"/>
          </a:p>
        </p:txBody>
      </p:sp>
      <p:sp>
        <p:nvSpPr>
          <p:cNvPr id="72" name="Shape 64"/>
          <p:cNvSpPr/>
          <p:nvPr/>
        </p:nvSpPr>
        <p:spPr>
          <a:xfrm>
            <a:off x="3493008" y="5148072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73" name="Text 65"/>
          <p:cNvSpPr txBox="1"/>
          <p:nvPr/>
        </p:nvSpPr>
        <p:spPr>
          <a:xfrm>
            <a:off x="3566160" y="514807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UNSW-NB15: 9 attack families, PCAP + flows</a:t>
            </a:r>
            <a:endParaRPr lang="en-US" sz="950" dirty="0"/>
          </a:p>
        </p:txBody>
      </p:sp>
      <p:sp>
        <p:nvSpPr>
          <p:cNvPr id="74" name="Shape 66"/>
          <p:cNvSpPr/>
          <p:nvPr/>
        </p:nvSpPr>
        <p:spPr>
          <a:xfrm>
            <a:off x="3493008" y="5413248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75" name="Text 67"/>
          <p:cNvSpPr txBox="1"/>
          <p:nvPr/>
        </p:nvSpPr>
        <p:spPr>
          <a:xfrm>
            <a:off x="3566160" y="541324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CICIoT2023: 33 IoT attacks (unseen-attack tests)</a:t>
            </a:r>
            <a:endParaRPr lang="en-US" sz="950" dirty="0"/>
          </a:p>
        </p:txBody>
      </p:sp>
      <p:sp>
        <p:nvSpPr>
          <p:cNvPr id="76" name="Shape 68"/>
          <p:cNvSpPr/>
          <p:nvPr/>
        </p:nvSpPr>
        <p:spPr>
          <a:xfrm>
            <a:off x="3493008" y="5678424"/>
            <a:ext cx="4434840" cy="237744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77" name="Text 69"/>
          <p:cNvSpPr txBox="1"/>
          <p:nvPr/>
        </p:nvSpPr>
        <p:spPr>
          <a:xfrm>
            <a:off x="3566160" y="5678424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DARPA 2000 LLDOS 1.0/2.0: 5-phase multi-stage attack</a:t>
            </a:r>
            <a:endParaRPr lang="en-US" sz="950" dirty="0"/>
          </a:p>
        </p:txBody>
      </p:sp>
      <p:sp>
        <p:nvSpPr>
          <p:cNvPr id="78" name="Shape 70"/>
          <p:cNvSpPr/>
          <p:nvPr/>
        </p:nvSpPr>
        <p:spPr>
          <a:xfrm>
            <a:off x="3493008" y="5943600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79" name="Text 71"/>
          <p:cNvSpPr txBox="1"/>
          <p:nvPr/>
        </p:nvSpPr>
        <p:spPr>
          <a:xfrm>
            <a:off x="3566160" y="594360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LANL auth + red team: real lateral movement, 58 days</a:t>
            </a:r>
            <a:endParaRPr lang="en-US" sz="950" dirty="0"/>
          </a:p>
        </p:txBody>
      </p:sp>
      <p:sp>
        <p:nvSpPr>
          <p:cNvPr id="80" name="Shape 72"/>
          <p:cNvSpPr/>
          <p:nvPr/>
        </p:nvSpPr>
        <p:spPr>
          <a:xfrm>
            <a:off x="3493008" y="6208776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81" name="Text 73"/>
          <p:cNvSpPr txBox="1"/>
          <p:nvPr/>
        </p:nvSpPr>
        <p:spPr>
          <a:xfrm>
            <a:off x="3566160" y="620877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MITRE ATT&amp;CK · CAPEC · CVE/NVD: knowledge base</a:t>
            </a:r>
            <a:endParaRPr lang="en-US" sz="950" dirty="0"/>
          </a:p>
        </p:txBody>
      </p:sp>
      <p:sp>
        <p:nvSpPr>
          <p:cNvPr id="82" name="Shape 74"/>
          <p:cNvSpPr/>
          <p:nvPr/>
        </p:nvSpPr>
        <p:spPr>
          <a:xfrm>
            <a:off x="3493008" y="6473952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83" name="Text 75"/>
          <p:cNvSpPr txBox="1"/>
          <p:nvPr/>
        </p:nvSpPr>
        <p:spPr>
          <a:xfrm>
            <a:off x="3566160" y="647395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Own capture, IPv4 + IPv6: benign baseline (already collected)</a:t>
            </a:r>
            <a:endParaRPr lang="en-US" sz="950" dirty="0"/>
          </a:p>
        </p:txBody>
      </p:sp>
      <p:sp>
        <p:nvSpPr>
          <p:cNvPr id="84" name="Shape 76"/>
          <p:cNvSpPr/>
          <p:nvPr/>
        </p:nvSpPr>
        <p:spPr>
          <a:xfrm>
            <a:off x="8138160" y="548640"/>
            <a:ext cx="3749040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85" name="Text 77"/>
          <p:cNvSpPr txBox="1"/>
          <p:nvPr/>
        </p:nvSpPr>
        <p:spPr>
          <a:xfrm>
            <a:off x="8183880" y="6035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SELECTION 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HEAD-TO-HEAD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1188720"/>
          <a:ext cx="35661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1430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Component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Compared against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 condition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World model · RSSM + Transformer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regression; same model with history shuffled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Done*: </a:t>
                      </a: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0.865 vs 0.483 at equal FPR; shuffled history drops to 0.347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Graph encoder · GraphSAGE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feature vector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next-target </a:t>
                      </a: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from who-talks-to-whom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Rollout · 64 samples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one-step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</a:t>
                      </a: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probabilities (Brier / ECE)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Explainer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only · SHAP · Integrated Gradients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Faithful: </a:t>
                      </a: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removing top drivers drops the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ATT&amp;CK / CAPEC knowledge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label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Actionable: </a:t>
                      </a: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alarm names technique, CAPEC pattern and 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7" name="Text 78"/>
          <p:cNvSpPr txBox="1"/>
          <p:nvPr/>
        </p:nvSpPr>
        <p:spPr>
          <a:xfrm>
            <a:off x="8247888" y="6172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*Measured on held-out simulated scenarios (results/benchmark.md). Other rows: planned, same features and time split, published win or lose.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SentiNet — SIH26153</dc:title>
  <dc:subject>PptxGenJS Presentation</dc:subject>
  <dc:creator>PptxGenJS</dc:creator>
  <cp:lastModifiedBy>PptxGenJS</cp:lastModifiedBy>
  <cp:revision>1</cp:revision>
  <dcterms:created xsi:type="dcterms:W3CDTF">2026-09-28T22:57:32Z</dcterms:created>
  <dcterms:modified xsi:type="dcterms:W3CDTF">2026-09-28T22:57:32Z</dcterms:modified>
</cp:coreProperties>
</file>